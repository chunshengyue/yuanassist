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本页说明项目主题和报告定位。重点是让读者先看到项目不是单纯 OCR 调用，而是围绕攻略截图到结构化数据的一条处理链路。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本页给出摘要层面的结论。项目的核心贡献是把复杂截图逐步拆成可识别的小单元，并通过后处理生成可供自动化系统使用的数据。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本页说明需求来源。游戏攻略截图对玩家可读，但对自动化系统不可直接使用，因此需要把表格内容转成稳定字段。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本页把需求拆成图像层、结构层和语义层。三层分别对应表格定位、行列恢复和动作字段规范化。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本页展示总体设计。系统先改善图像质量，再定位表格区域，随后恢复网格结构，最后做 OCR 和业务后处理。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本页从流程角度解释系统如何逐步缩小 OCR 的问题规模。OCR 不再面对整张复杂截图，而是处理经过切分的单元格。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本页说明预处理的作用与边界。灰度化、降噪和二值化能提升图像质量，但不能单独解决表格结构恢复问题。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本页强调区域定位和网格恢复的重要性。系统通过规则网格主体、横竖线和交点关系推断单元格边界。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本页说明复杂单元格的处理。动作符号、多行说明和低置信结果需要专门解析，而不是当成普通文本直接接受。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本页说明后处理为什么必要。自动化系统最终需要的是回合、动作、说明等字段清楚的数据，而不是一段 OCR 文本。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本页展示输出形态和调试价值。中间结果可以帮助判断问题来自预处理、定位、网格恢复、OCR 还是后处理。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本页还原项目演进过程。方案不是一次性设计完成，而是在云端 OCR、整图 OCR、预处理和结构恢复之间逐步收敛。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本页归纳当前方案特点。它是面向固定结构攻略表格的本地处理闭环，优势在于成本可控、链路完整和便于调试。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本页如实呈现不足。后续改进重点包括截图风格泛化、动作符号专门识别、参数稳定性和量化评估。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本页收束项目价值。项目能够体现图像处理知识在真实业务问题中的应用过程，核心主线是表格结构恢复。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33400" y="56769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6" name="TextBox 6"/>
            <p:cNvSpPr txBox="1"/>
            <p:nvPr/>
          </p:nvSpPr>
          <p:spPr>
            <a:xfrm>
              <a:off x="521970" y="302895"/>
              <a:ext cx="20151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IMAGE PROCESSING COURSE PROJECT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01 / 15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3870" y="798195"/>
            <a:ext cx="7339441" cy="2006917"/>
            <a:chOff x="483870" y="798195"/>
            <a:chExt cx="7339441" cy="2006917"/>
          </a:xfrm>
        </p:grpSpPr>
        <p:sp>
          <p:nvSpPr>
            <p:cNvPr id="9" name="TextBox 9"/>
            <p:cNvSpPr txBox="1"/>
            <p:nvPr/>
          </p:nvSpPr>
          <p:spPr>
            <a:xfrm>
              <a:off x="483870" y="798195"/>
              <a:ext cx="5585746" cy="13830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650"/>
                </a:lnSpc>
              </a:pPr>
              <a:r>
                <a:rPr lang="zh-CN" sz="390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基于 OpenCV 与 OCR 的</a:t>
              </a:r>
              <a:r>
                <a:rPr lang="zh-CN" sz="390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游戏攻略表格识别系统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1495" y="2469832"/>
              <a:ext cx="72918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66273"/>
                  </a:solidFill>
                  <a:latin typeface="Arial"/>
                  <a:ea typeface="Microsoft YaHei"/>
                  <a:cs typeface="Arial"/>
                </a:rPr>
                <a:t>项目报告型 PPT：面向老师直接阅读，突出工程链路、实现取舍与改进方向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3143250"/>
            <a:ext cx="6858000" cy="1835944"/>
            <a:chOff x="533400" y="3143250"/>
            <a:chExt cx="6858000" cy="1835944"/>
          </a:xfrm>
        </p:grpSpPr>
        <p:sp>
          <p:nvSpPr>
            <p:cNvPr id="12" name="Rectangle 12"/>
            <p:cNvSpPr/>
            <p:nvPr/>
          </p:nvSpPr>
          <p:spPr>
            <a:xfrm>
              <a:off x="533400" y="3143250"/>
              <a:ext cx="6858000" cy="180975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0095" y="33080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摘要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4858" y="3691414"/>
              <a:ext cx="5286851" cy="1287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025"/>
                </a:lnSpc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本项目面向游戏自动化辅助场景中的攻略表格识别需求，研究并实现一套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结合 OpenCV 图像处理与 OCR 文本识别的本地化处理方案。系统不再把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整张攻略截图交给 OCR 一次性判断，而是先通过预处理、区域定位、网格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结构恢复和单元格切分，把复杂截图转化为适合识别的小规模图像单元，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再通过文本规范化与动作序列解析生成结构化结果。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810500" y="3143250"/>
            <a:ext cx="3429000" cy="2052638"/>
            <a:chOff x="7810500" y="3143250"/>
            <a:chExt cx="3429000" cy="2052638"/>
          </a:xfrm>
        </p:grpSpPr>
        <p:sp>
          <p:nvSpPr>
            <p:cNvPr id="16" name="Rectangle 16"/>
            <p:cNvSpPr/>
            <p:nvPr/>
          </p:nvSpPr>
          <p:spPr>
            <a:xfrm>
              <a:off x="7810500" y="3143250"/>
              <a:ext cx="3429000" cy="1809750"/>
            </a:xfrm>
            <a:prstGeom prst="roundRect">
              <a:avLst>
                <a:gd name="adj" fmla="val 3158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7195" y="33080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技术主线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41005" y="3702368"/>
              <a:ext cx="1345882" cy="1493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复杂截图</a:t>
              </a:r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→ 表格区域</a:t>
              </a:r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→ 网格结构</a:t>
              </a:r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 xml:space="preserve">→ 单元格 OCR </a:t>
              </a:r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→ CSV / 业务数据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906000" y="3676650"/>
              <a:ext cx="781050" cy="781050"/>
            </a:xfrm>
            <a:prstGeom prst="roundRect">
              <a:avLst>
                <a:gd name="adj" fmla="val 731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65739" y="3806190"/>
              <a:ext cx="4615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CSV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30861" y="4121468"/>
              <a:ext cx="331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1xN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19112" y="5193506"/>
            <a:ext cx="5031700" cy="228600"/>
            <a:chOff x="519112" y="5193506"/>
            <a:chExt cx="5031700" cy="228600"/>
          </a:xfrm>
        </p:grpSpPr>
        <p:sp>
          <p:nvSpPr>
            <p:cNvPr id="23" name="TextBox 23"/>
            <p:cNvSpPr txBox="1"/>
            <p:nvPr/>
          </p:nvSpPr>
          <p:spPr>
            <a:xfrm>
              <a:off x="519112" y="5193506"/>
              <a:ext cx="5031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66273"/>
                  </a:solidFill>
                  <a:latin typeface="Arial"/>
                  <a:ea typeface="Microsoft YaHei"/>
                  <a:cs typeface="Arial"/>
                </a:rPr>
                <a:t>关键词：OpenCV；OCR；表格识别；图像预处理；结构化数据；游戏自动化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22922" y="6387941"/>
            <a:ext cx="33103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Source: report_draft_revised.docx, extracted as plain text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22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302895"/>
              <a:ext cx="5329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SUMMARY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02 / 15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01015" y="601028"/>
            <a:ext cx="11157585" cy="1018222"/>
            <a:chOff x="501015" y="601028"/>
            <a:chExt cx="11157585" cy="1018222"/>
          </a:xfrm>
        </p:grpSpPr>
        <p:sp>
          <p:nvSpPr>
            <p:cNvPr id="8" name="TextBox 8"/>
            <p:cNvSpPr txBox="1"/>
            <p:nvPr/>
          </p:nvSpPr>
          <p:spPr>
            <a:xfrm>
              <a:off x="501015" y="601028"/>
              <a:ext cx="1015128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摘要与关键词：本项目的重点是“结构恢复”，不是简单调用 OCR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104900"/>
              <a:ext cx="11125200" cy="514350"/>
            </a:xfrm>
            <a:prstGeom prst="roundRect">
              <a:avLst>
                <a:gd name="adj" fmla="val 11111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25805" y="1283018"/>
              <a:ext cx="10034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核心结论：先用 OpenCV 把截图中的表格结构恢复出来，再让 OCR 读取单元格，才能得到可供自动化系统使用的结构化数据。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1924050"/>
            <a:ext cx="11125200" cy="3200400"/>
            <a:chOff x="533400" y="1924050"/>
            <a:chExt cx="11125200" cy="3200400"/>
          </a:xfrm>
        </p:grpSpPr>
        <p:sp>
          <p:nvSpPr>
            <p:cNvPr id="12" name="Rectangle 12"/>
            <p:cNvSpPr/>
            <p:nvPr/>
          </p:nvSpPr>
          <p:spPr>
            <a:xfrm>
              <a:off x="533400" y="1924050"/>
              <a:ext cx="5219700" cy="14478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1045" y="2069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研究对象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808" y="2415064"/>
              <a:ext cx="4890135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游戏攻略截图中的回合行动表格，包含角色动作、方向箭头、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攻击符号、多行说明和装饰性背景，不能直接当普通文档表格处理。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38900" y="1924050"/>
              <a:ext cx="5219700" cy="14478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46545" y="2069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方法路线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1308" y="2415064"/>
              <a:ext cx="4639151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灰度化、降噪、二值化用于改善图像质量；区域定位和网格恢复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负责把 OCR 输入缩小到单元格，后处理再统一字段和动作语义。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676650"/>
              <a:ext cx="5219700" cy="14478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1045" y="3822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766E"/>
                  </a:solidFill>
                  <a:latin typeface="Arial"/>
                  <a:ea typeface="SimHei"/>
                  <a:cs typeface="Arial"/>
                </a:rPr>
                <a:t>工程价值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808" y="4167664"/>
              <a:ext cx="5076349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相对云端表格 OCR，本地链路降低长期调用成本，且中间结果可视化，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便于判断问题来自区域定位、网格恢复、OCR 识别还是后处理规则。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38900" y="3676650"/>
              <a:ext cx="5219700" cy="14478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46545" y="3822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766E"/>
                  </a:solidFill>
                  <a:latin typeface="Arial"/>
                  <a:ea typeface="SimHei"/>
                  <a:cs typeface="Arial"/>
                </a:rPr>
                <a:t>输出形态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51308" y="4167664"/>
              <a:ext cx="4963001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最终目标不是生成一段 OCR 文本，而是输出字段边界清晰、动作顺序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可靠、异常可追踪的 CSV 或脚本数据。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5429250"/>
            <a:ext cx="11125200" cy="552450"/>
            <a:chOff x="533400" y="5429250"/>
            <a:chExt cx="11125200" cy="552450"/>
          </a:xfrm>
        </p:grpSpPr>
        <p:sp>
          <p:nvSpPr>
            <p:cNvPr id="25" name="Rectangle 25"/>
            <p:cNvSpPr/>
            <p:nvPr/>
          </p:nvSpPr>
          <p:spPr>
            <a:xfrm>
              <a:off x="533400" y="5429250"/>
              <a:ext cx="11125200" cy="552450"/>
            </a:xfrm>
            <a:prstGeom prst="roundRect">
              <a:avLst>
                <a:gd name="adj" fmla="val 10345"/>
              </a:avLst>
            </a:prstGeom>
            <a:solidFill>
              <a:srgbClr val="F6F8FB"/>
            </a:solidFill>
            <a:ln w="9525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6760" y="5642610"/>
              <a:ext cx="66313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66273"/>
                  </a:solidFill>
                  <a:latin typeface="Arial"/>
                  <a:ea typeface="Microsoft YaHei"/>
                  <a:cs typeface="Arial"/>
                </a:rPr>
                <a:t>关键词：OpenCV / OCR / 表格识别 / 图像预处理 / 网格结构恢复 / 结构化数据 / 游戏自动化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2922" y="6286500"/>
            <a:ext cx="11135678" cy="288131"/>
            <a:chOff x="522922" y="6286500"/>
            <a:chExt cx="11135678" cy="288131"/>
          </a:xfrm>
        </p:grpSpPr>
        <p:sp>
          <p:nvSpPr>
            <p:cNvPr id="28" name="Rectangle 28"/>
            <p:cNvSpPr/>
            <p:nvPr/>
          </p:nvSpPr>
          <p:spPr>
            <a:xfrm>
              <a:off x="533400" y="62865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2922" y="6406991"/>
              <a:ext cx="19626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Source: report_draft_revised.docx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302895"/>
              <a:ext cx="12290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PROJECT BACKGROUND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03 / 15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01015" y="601028"/>
            <a:ext cx="10454769" cy="1018222"/>
            <a:chOff x="501015" y="601028"/>
            <a:chExt cx="10454769" cy="1018222"/>
          </a:xfrm>
        </p:grpSpPr>
        <p:sp>
          <p:nvSpPr>
            <p:cNvPr id="8" name="TextBox 8"/>
            <p:cNvSpPr txBox="1"/>
            <p:nvPr/>
          </p:nvSpPr>
          <p:spPr>
            <a:xfrm>
              <a:off x="501015" y="601028"/>
              <a:ext cx="1045476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项目背景：自动化系统需要“可解析表格”，而不是一张可阅读截图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104900"/>
              <a:ext cx="7010400" cy="514350"/>
            </a:xfrm>
            <a:prstGeom prst="roundRect">
              <a:avLst>
                <a:gd name="adj" fmla="val 11111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25805" y="1283018"/>
              <a:ext cx="68661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真实业务需求来自游戏自动化辅助 App：社区攻略表格要被转换成程序可消费的数据。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885950"/>
            <a:ext cx="5334000" cy="3371850"/>
            <a:chOff x="533400" y="1885950"/>
            <a:chExt cx="5334000" cy="3371850"/>
          </a:xfrm>
        </p:grpSpPr>
        <p:sp>
          <p:nvSpPr>
            <p:cNvPr id="12" name="Rectangle 12"/>
            <p:cNvSpPr/>
            <p:nvPr/>
          </p:nvSpPr>
          <p:spPr>
            <a:xfrm>
              <a:off x="533400" y="1885950"/>
              <a:ext cx="5334000" cy="3371850"/>
            </a:xfrm>
            <a:prstGeom prst="roundRect">
              <a:avLst>
                <a:gd name="adj" fmla="val 169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9142" y="2052161"/>
              <a:ext cx="270064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为什么截图不能直接使用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4858" y="2453164"/>
              <a:ext cx="4404360" cy="16878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025"/>
                </a:lnSpc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攻略材料通常以图片形式传播，表格里记录每一回合不同角色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的攻击、防御、技能释放或特殊动作。人可以直接阅读截图，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但自动化系统需要的是字段稳定、顺序明确的数据。</a:t>
              </a:r>
            </a:p>
            <a:p>
              <a:pPr algn="l">
                <a:lnSpc>
                  <a:spcPts val="2025"/>
                </a:lnSpc>
                <a:spcBef>
                  <a:spcPts val="1125"/>
                </a:spcBef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早期曾尝试百度表格 OCR API，接入成本低，也能快速验证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可行性；但在真实用户场景中，高频调用会带来持续成本，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且云端结果仍然难以直接转化为自动执行所需结构。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305550" y="1885950"/>
            <a:ext cx="5353050" cy="3371850"/>
            <a:chOff x="6305550" y="1885950"/>
            <a:chExt cx="5353050" cy="3371850"/>
          </a:xfrm>
        </p:grpSpPr>
        <p:sp>
          <p:nvSpPr>
            <p:cNvPr id="16" name="Rectangle 16"/>
            <p:cNvSpPr/>
            <p:nvPr/>
          </p:nvSpPr>
          <p:spPr>
            <a:xfrm>
              <a:off x="6305550" y="1885950"/>
              <a:ext cx="5353050" cy="3371850"/>
            </a:xfrm>
            <a:prstGeom prst="roundRect">
              <a:avLst>
                <a:gd name="adj" fmla="val 1695"/>
              </a:avLst>
            </a:prstGeom>
            <a:solidFill>
              <a:srgbClr val="F6F8FB"/>
            </a:solidFill>
            <a:ln w="9525">
              <a:solidFill>
                <a:srgbClr val="CBD5E1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705600" y="2247900"/>
              <a:ext cx="4552950" cy="2190750"/>
            </a:xfrm>
            <a:prstGeom prst="roundRect">
              <a:avLst>
                <a:gd name="adj" fmla="val 173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  <a:custDash>
                <a:ds d="800000" sp="800000"/>
              </a:custDash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37004" y="30603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66273"/>
                  </a:solidFill>
                  <a:latin typeface="Arial"/>
                  <a:ea typeface="Microsoft YaHei"/>
                  <a:cs typeface="Arial"/>
                </a:rPr>
                <a:t>原始攻略截图占位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42534" y="3440906"/>
              <a:ext cx="40790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可替换为真实样例图：立绘、表格、说明文字混在一张截图中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705600" y="472440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83730" y="48206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立绘干扰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20050" y="472440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98180" y="48206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装饰边框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334500" y="472440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12630" y="48206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动作符号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5562600"/>
            <a:ext cx="11125200" cy="533400"/>
            <a:chOff x="533400" y="5562600"/>
            <a:chExt cx="11125200" cy="533400"/>
          </a:xfrm>
        </p:grpSpPr>
        <p:sp>
          <p:nvSpPr>
            <p:cNvPr id="27" name="Rectangle 27"/>
            <p:cNvSpPr/>
            <p:nvPr/>
          </p:nvSpPr>
          <p:spPr>
            <a:xfrm>
              <a:off x="533400" y="5562600"/>
              <a:ext cx="1112520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4855" y="5750242"/>
              <a:ext cx="75322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需求转变：从“让 OCR 读出文字”转向“构建一条本地、低成本、可解释的表格结构恢复链路”。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2922" y="6286500"/>
            <a:ext cx="11135678" cy="288131"/>
            <a:chOff x="522922" y="6286500"/>
            <a:chExt cx="11135678" cy="288131"/>
          </a:xfrm>
        </p:grpSpPr>
        <p:sp>
          <p:nvSpPr>
            <p:cNvPr id="30" name="Rectangle 30"/>
            <p:cNvSpPr/>
            <p:nvPr/>
          </p:nvSpPr>
          <p:spPr>
            <a:xfrm>
              <a:off x="533400" y="62865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2922" y="6406991"/>
              <a:ext cx="19626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Source: report_draft_revised.docx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26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302895"/>
              <a:ext cx="1301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REQUIREMENT ANALYSIS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04 / 15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01015" y="601028"/>
            <a:ext cx="11157585" cy="980122"/>
            <a:chOff x="501015" y="601028"/>
            <a:chExt cx="11157585" cy="980122"/>
          </a:xfrm>
        </p:grpSpPr>
        <p:sp>
          <p:nvSpPr>
            <p:cNvPr id="8" name="TextBox 8"/>
            <p:cNvSpPr txBox="1"/>
            <p:nvPr/>
          </p:nvSpPr>
          <p:spPr>
            <a:xfrm>
              <a:off x="501015" y="601028"/>
              <a:ext cx="1057973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需求分析：这不是单一 OCR 任务，而是图像、结构、语义三层恢复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104900"/>
              <a:ext cx="11125200" cy="476250"/>
            </a:xfrm>
            <a:prstGeom prst="roundRect">
              <a:avLst>
                <a:gd name="adj" fmla="val 12000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25805" y="1263968"/>
              <a:ext cx="66951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系统需要从复杂截图中定位表格，恢复行列边界，再把单元格文本整理成稳定字段。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1943100"/>
            <a:ext cx="11957209" cy="2152650"/>
            <a:chOff x="533400" y="1943100"/>
            <a:chExt cx="11957209" cy="2152650"/>
          </a:xfrm>
        </p:grpSpPr>
        <p:sp>
          <p:nvSpPr>
            <p:cNvPr id="12" name="Rectangle 12"/>
            <p:cNvSpPr/>
            <p:nvPr/>
          </p:nvSpPr>
          <p:spPr>
            <a:xfrm>
              <a:off x="533400" y="1943100"/>
              <a:ext cx="3390900" cy="2152650"/>
            </a:xfrm>
            <a:prstGeom prst="roundRect">
              <a:avLst>
                <a:gd name="adj" fmla="val 265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8668" y="2180749"/>
              <a:ext cx="584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L1 IMAGE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8190" y="241554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图像层：稳定定位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4858" y="2834164"/>
              <a:ext cx="4080510" cy="9163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025"/>
                </a:lnSpc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从复杂截图中找到真正的表格主体，尽量排除角色立绘、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标题、水印、背景纹理和压缩噪声。</a:t>
              </a:r>
            </a:p>
            <a:p>
              <a:pPr algn="l">
                <a:lnSpc>
                  <a:spcPts val="2025"/>
                </a:lnSpc>
                <a:spcBef>
                  <a:spcPts val="1125"/>
                </a:spcBef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输出：裁剪后的表格区域。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400550" y="1943100"/>
              <a:ext cx="3390900" cy="2152650"/>
            </a:xfrm>
            <a:prstGeom prst="roundRect">
              <a:avLst>
                <a:gd name="adj" fmla="val 2655"/>
              </a:avLst>
            </a:prstGeom>
            <a:solidFill>
              <a:srgbClr val="1565C0"/>
            </a:solidFill>
            <a:ln w="9525">
              <a:solidFill>
                <a:srgbClr val="1565C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35818" y="2180749"/>
              <a:ext cx="8916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L2 STRUCTURE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5340" y="241554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结构层：恢复行列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32008" y="2834164"/>
              <a:ext cx="3780949" cy="9163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025"/>
                </a:lnSpc>
              </a:pPr>
              <a:r>
                <a:rPr lang="zh-CN" sz="12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根据横线、竖线和交点关系推断单元格边界，让 OCR</a:t>
              </a:r>
              <a:r>
                <a:rPr lang="zh-CN" sz="12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输入从整图缩小到局部单元格。</a:t>
              </a:r>
            </a:p>
            <a:p>
              <a:pPr algn="l">
                <a:lnSpc>
                  <a:spcPts val="2025"/>
                </a:lnSpc>
                <a:spcBef>
                  <a:spcPts val="1125"/>
                </a:spcBef>
              </a:pPr>
              <a:r>
                <a:rPr lang="zh-CN" sz="12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输出：行列结构与单元格图像。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67700" y="1943100"/>
              <a:ext cx="3390900" cy="2152650"/>
            </a:xfrm>
            <a:prstGeom prst="roundRect">
              <a:avLst>
                <a:gd name="adj" fmla="val 265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02968" y="2180749"/>
              <a:ext cx="8848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L3 SEMANTICS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2490" y="241554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语义层：规范动作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99158" y="2834164"/>
              <a:ext cx="3991451" cy="9163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025"/>
                </a:lnSpc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把 OCR 原始文本整理为回合、角色、动作和说明字段，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处理多行动作、符号粘连和低置信片段。</a:t>
              </a:r>
            </a:p>
            <a:p>
              <a:pPr algn="l">
                <a:lnSpc>
                  <a:spcPts val="2025"/>
                </a:lnSpc>
                <a:spcBef>
                  <a:spcPts val="1125"/>
                </a:spcBef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输出：CSV 或脚本数据。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4476750"/>
            <a:ext cx="11125200" cy="1104900"/>
            <a:chOff x="533400" y="4476750"/>
            <a:chExt cx="11125200" cy="1104900"/>
          </a:xfrm>
        </p:grpSpPr>
        <p:sp>
          <p:nvSpPr>
            <p:cNvPr id="25" name="Rectangle 25"/>
            <p:cNvSpPr/>
            <p:nvPr/>
          </p:nvSpPr>
          <p:spPr>
            <a:xfrm>
              <a:off x="533400" y="4476750"/>
              <a:ext cx="11125200" cy="1104900"/>
            </a:xfrm>
            <a:prstGeom prst="roundRect">
              <a:avLst>
                <a:gd name="adj" fmla="val 5172"/>
              </a:avLst>
            </a:prstGeom>
            <a:solidFill>
              <a:srgbClr val="F6F8FB"/>
            </a:solidFill>
            <a:ln w="9525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9142" y="46524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工程约束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41308" y="4643914"/>
              <a:ext cx="3270885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本地可运行：减少高频云端 API 依赖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中间结果可视化：能定位失败发生在哪个阶段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22808" y="4643914"/>
              <a:ext cx="2785110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面向固定结构：不追求任意文档 OCR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可迭代：新样本出现后按阶段增量优化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2922" y="6286500"/>
            <a:ext cx="11135678" cy="288131"/>
            <a:chOff x="522922" y="6286500"/>
            <a:chExt cx="11135678" cy="288131"/>
          </a:xfrm>
        </p:grpSpPr>
        <p:sp>
          <p:nvSpPr>
            <p:cNvPr id="30" name="Rectangle 30"/>
            <p:cNvSpPr/>
            <p:nvPr/>
          </p:nvSpPr>
          <p:spPr>
            <a:xfrm>
              <a:off x="533400" y="62865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2922" y="6406991"/>
              <a:ext cx="19626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Source: report_draft_revised.docx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302895"/>
              <a:ext cx="9109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OVERALL DESIGN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05 / 15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01015" y="601028"/>
            <a:ext cx="11157585" cy="980122"/>
            <a:chOff x="501015" y="601028"/>
            <a:chExt cx="11157585" cy="980122"/>
          </a:xfrm>
        </p:grpSpPr>
        <p:sp>
          <p:nvSpPr>
            <p:cNvPr id="8" name="TextBox 8"/>
            <p:cNvSpPr txBox="1"/>
            <p:nvPr/>
          </p:nvSpPr>
          <p:spPr>
            <a:xfrm>
              <a:off x="501015" y="601028"/>
              <a:ext cx="613452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总体设计：先结构化图像，再识别文本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104900"/>
              <a:ext cx="11125200" cy="476250"/>
            </a:xfrm>
            <a:prstGeom prst="roundRect">
              <a:avLst>
                <a:gd name="adj" fmla="val 12000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25805" y="1263968"/>
              <a:ext cx="8432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设计核心是把 OCR 从“整体判断者”降为“局部读取器”，先用图像处理把表格边界和单元格结构确定下来。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1924050"/>
            <a:ext cx="11125200" cy="3429000"/>
            <a:chOff x="533400" y="1924050"/>
            <a:chExt cx="11125200" cy="3429000"/>
          </a:xfrm>
        </p:grpSpPr>
        <p:sp>
          <p:nvSpPr>
            <p:cNvPr id="12" name="Rectangle 12"/>
            <p:cNvSpPr/>
            <p:nvPr/>
          </p:nvSpPr>
          <p:spPr>
            <a:xfrm>
              <a:off x="533400" y="1924050"/>
              <a:ext cx="11125200" cy="3429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1924050"/>
              <a:ext cx="11125200" cy="457200"/>
            </a:xfrm>
            <a:prstGeom prst="roundRect">
              <a:avLst>
                <a:gd name="adj" fmla="val 125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0108" y="208168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处理阶段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41358" y="208168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主要任务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70508" y="208168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输出结果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33400" y="28384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33400" y="3524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" y="4210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33400" y="48958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686050" y="192405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7277100" y="192405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0108" y="2548414"/>
              <a:ext cx="5679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预处理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42310" y="2480310"/>
              <a:ext cx="4191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灰度化、模糊降噪、二值化，提升文字与表格线条的对比度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71460" y="24803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增强后的灰度图或二值图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0108" y="32342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区域定位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42310" y="3166110"/>
              <a:ext cx="4030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筛选表格主体，排除立绘、标题、水印、背景纹理等干扰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71460" y="31661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裁剪后的表格区域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0108" y="39200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网格恢复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42310" y="3851910"/>
              <a:ext cx="3710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检测横线、竖线和交点，推断行列分隔与单元格边界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71460" y="38519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行列结构与单元格图像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0108" y="46058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识别后处理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42310" y="4537710"/>
              <a:ext cx="3894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对单元格 OCR，并规范化回合、动作、说明等业务字段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71460" y="4537710"/>
              <a:ext cx="16466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结构化 CSV / 脚本数据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3400" y="5657850"/>
            <a:ext cx="11125200" cy="457200"/>
            <a:chOff x="533400" y="5657850"/>
            <a:chExt cx="11125200" cy="457200"/>
          </a:xfrm>
        </p:grpSpPr>
        <p:sp>
          <p:nvSpPr>
            <p:cNvPr id="36" name="Rectangle 36"/>
            <p:cNvSpPr/>
            <p:nvPr/>
          </p:nvSpPr>
          <p:spPr>
            <a:xfrm>
              <a:off x="533400" y="5657850"/>
              <a:ext cx="11125200" cy="457200"/>
            </a:xfrm>
            <a:prstGeom prst="roundRect">
              <a:avLst>
                <a:gd name="adj" fmla="val 12500"/>
              </a:avLst>
            </a:prstGeom>
            <a:solidFill>
              <a:srgbClr val="F6F8FB"/>
            </a:solidFill>
            <a:ln w="9525">
              <a:solidFill>
                <a:srgbClr val="CBD5E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5808" y="5805964"/>
              <a:ext cx="63996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分层收益：局部 OCR 错误不会破坏整张表格结构，调试时也能定位到具体处理阶段。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2922" y="6286500"/>
            <a:ext cx="11135678" cy="288131"/>
            <a:chOff x="522922" y="6286500"/>
            <a:chExt cx="11135678" cy="288131"/>
          </a:xfrm>
        </p:grpSpPr>
        <p:sp>
          <p:nvSpPr>
            <p:cNvPr id="39" name="Rectangle 39"/>
            <p:cNvSpPr/>
            <p:nvPr/>
          </p:nvSpPr>
          <p:spPr>
            <a:xfrm>
              <a:off x="533400" y="62865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2922" y="6406991"/>
              <a:ext cx="19626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Source: report_draft_revised.docx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5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302895"/>
              <a:ext cx="1012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PROCESS PIPELINE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06 / 15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1015" y="601028"/>
            <a:ext cx="11275971" cy="518160"/>
            <a:chOff x="501015" y="601028"/>
            <a:chExt cx="11275971" cy="518160"/>
          </a:xfrm>
        </p:grpSpPr>
        <p:sp>
          <p:nvSpPr>
            <p:cNvPr id="8" name="TextBox 8"/>
            <p:cNvSpPr txBox="1"/>
            <p:nvPr/>
          </p:nvSpPr>
          <p:spPr>
            <a:xfrm>
              <a:off x="501015" y="601028"/>
              <a:ext cx="1127597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处理流程：从攻略截图到结构化 CSV，关键是逐步缩小 OCR 的问题规模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1524000"/>
            <a:ext cx="11125200" cy="2000250"/>
            <a:chOff x="533400" y="1524000"/>
            <a:chExt cx="11125200" cy="2000250"/>
          </a:xfrm>
        </p:grpSpPr>
        <p:sp>
          <p:nvSpPr>
            <p:cNvPr id="10" name="Rectangle 10"/>
            <p:cNvSpPr/>
            <p:nvPr/>
          </p:nvSpPr>
          <p:spPr>
            <a:xfrm>
              <a:off x="533400" y="1524000"/>
              <a:ext cx="11125200" cy="2000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038350"/>
              <a:ext cx="1219200" cy="876300"/>
            </a:xfrm>
            <a:prstGeom prst="roundRect">
              <a:avLst>
                <a:gd name="adj" fmla="val 6522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7413" y="21864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原始截图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8219" y="25045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66273"/>
                  </a:solidFill>
                  <a:latin typeface="Arial"/>
                  <a:ea typeface="Microsoft YaHei"/>
                  <a:cs typeface="Arial"/>
                </a:rPr>
                <a:t>复杂背景输入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2171700" y="2343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133350"/>
                  </a:moveTo>
                  <a:lnTo>
                    <a:pt x="266700" y="0"/>
                  </a:lnTo>
                  <a:lnTo>
                    <a:pt x="266700" y="26670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628900" y="2038350"/>
              <a:ext cx="1219200" cy="876300"/>
            </a:xfrm>
            <a:prstGeom prst="roundRect">
              <a:avLst>
                <a:gd name="adj" fmla="val 6522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54524" y="2186464"/>
              <a:ext cx="5679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预处理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36069" y="25045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66273"/>
                  </a:solidFill>
                  <a:latin typeface="Arial"/>
                  <a:ea typeface="Microsoft YaHei"/>
                  <a:cs typeface="Arial"/>
                </a:rPr>
                <a:t>降噪与二值化</a:t>
              </a:r>
            </a:p>
          </p:txBody>
        </p:sp>
        <p:sp>
          <p:nvSpPr>
            <p:cNvPr id="18" name="Polygon 18"/>
            <p:cNvSpPr/>
            <p:nvPr/>
          </p:nvSpPr>
          <p:spPr>
            <a:xfrm>
              <a:off x="4019550" y="2343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133350"/>
                  </a:moveTo>
                  <a:lnTo>
                    <a:pt x="266700" y="0"/>
                  </a:lnTo>
                  <a:lnTo>
                    <a:pt x="266700" y="26670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76750" y="2038350"/>
              <a:ext cx="1219200" cy="876300"/>
            </a:xfrm>
            <a:prstGeom prst="roundRect">
              <a:avLst>
                <a:gd name="adj" fmla="val 6522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13113" y="21864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区域定位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83919" y="25045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66273"/>
                  </a:solidFill>
                  <a:latin typeface="Arial"/>
                  <a:ea typeface="Microsoft YaHei"/>
                  <a:cs typeface="Arial"/>
                </a:rPr>
                <a:t>找到表格主体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5867400" y="2343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133350"/>
                  </a:moveTo>
                  <a:lnTo>
                    <a:pt x="266700" y="0"/>
                  </a:lnTo>
                  <a:lnTo>
                    <a:pt x="266700" y="26670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24600" y="2038350"/>
              <a:ext cx="1219200" cy="876300"/>
            </a:xfrm>
            <a:prstGeom prst="roundRect">
              <a:avLst>
                <a:gd name="adj" fmla="val 6522"/>
              </a:avLst>
            </a:prstGeom>
            <a:solidFill>
              <a:srgbClr val="1565C0"/>
            </a:solidFill>
            <a:ln w="9525">
              <a:solidFill>
                <a:srgbClr val="1565C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60963" y="21864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网格恢复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96777" y="250459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行列与边界</a:t>
              </a:r>
            </a:p>
          </p:txBody>
        </p:sp>
        <p:sp>
          <p:nvSpPr>
            <p:cNvPr id="26" name="Polygon 26"/>
            <p:cNvSpPr/>
            <p:nvPr/>
          </p:nvSpPr>
          <p:spPr>
            <a:xfrm>
              <a:off x="7715250" y="2343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133350"/>
                  </a:moveTo>
                  <a:lnTo>
                    <a:pt x="266700" y="0"/>
                  </a:lnTo>
                  <a:lnTo>
                    <a:pt x="266700" y="26670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72450" y="2038350"/>
              <a:ext cx="1219200" cy="876300"/>
            </a:xfrm>
            <a:prstGeom prst="roundRect">
              <a:avLst>
                <a:gd name="adj" fmla="val 6522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06163" y="2186464"/>
              <a:ext cx="9517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单元格 OCR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9619" y="25045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66273"/>
                  </a:solidFill>
                  <a:latin typeface="Arial"/>
                  <a:ea typeface="Microsoft YaHei"/>
                  <a:cs typeface="Arial"/>
                </a:rPr>
                <a:t>局部文字读取</a:t>
              </a:r>
            </a:p>
          </p:txBody>
        </p:sp>
        <p:sp>
          <p:nvSpPr>
            <p:cNvPr id="30" name="Polygon 30"/>
            <p:cNvSpPr/>
            <p:nvPr/>
          </p:nvSpPr>
          <p:spPr>
            <a:xfrm>
              <a:off x="9563100" y="2343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133350"/>
                  </a:moveTo>
                  <a:lnTo>
                    <a:pt x="266700" y="0"/>
                  </a:lnTo>
                  <a:lnTo>
                    <a:pt x="266700" y="26670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020300" y="2038350"/>
              <a:ext cx="1219200" cy="876300"/>
            </a:xfrm>
            <a:prstGeom prst="roundRect">
              <a:avLst>
                <a:gd name="adj" fmla="val 6522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167402" y="218646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结构化输出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07014" y="2496502"/>
              <a:ext cx="845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CSV / script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3400" y="3886200"/>
            <a:ext cx="12096750" cy="1524000"/>
            <a:chOff x="533400" y="3886200"/>
            <a:chExt cx="12096750" cy="1524000"/>
          </a:xfrm>
        </p:grpSpPr>
        <p:sp>
          <p:nvSpPr>
            <p:cNvPr id="35" name="Rectangle 35"/>
            <p:cNvSpPr/>
            <p:nvPr/>
          </p:nvSpPr>
          <p:spPr>
            <a:xfrm>
              <a:off x="533400" y="3886200"/>
              <a:ext cx="3429000" cy="1524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1048" y="4059079"/>
              <a:ext cx="205783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为什么不是整图 OCR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5810" y="4423410"/>
              <a:ext cx="4213860" cy="4819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整图 OCR 得到的是无序文本流，无法稳定恢复表格行列关系，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动作顺序也容易混乱。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381500" y="3886200"/>
              <a:ext cx="3429000" cy="1524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09148" y="4059079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0F766E"/>
                  </a:solidFill>
                  <a:latin typeface="Arial"/>
                  <a:ea typeface="SimHei"/>
                  <a:cs typeface="Arial"/>
                </a:rPr>
                <a:t>结构恢复的作用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13910" y="4423410"/>
              <a:ext cx="4168140" cy="4819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用横线、竖线和交点先确定单元格边界，OCR 只负责读更小、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更干净的局部图像。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229600" y="3886200"/>
              <a:ext cx="3429000" cy="1524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57248" y="4059079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59E0B"/>
                  </a:solidFill>
                  <a:latin typeface="Arial"/>
                  <a:ea typeface="SimHei"/>
                  <a:cs typeface="Arial"/>
                </a:rPr>
                <a:t>后处理的必要性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62010" y="4423410"/>
              <a:ext cx="4168140" cy="4819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OCR 文本还要统一回合格式、动作符号和说明字段，才能真正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进入自动化执行链路。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2922" y="6286500"/>
            <a:ext cx="11135678" cy="288131"/>
            <a:chOff x="522922" y="6286500"/>
            <a:chExt cx="11135678" cy="288131"/>
          </a:xfrm>
        </p:grpSpPr>
        <p:sp>
          <p:nvSpPr>
            <p:cNvPr id="45" name="Rectangle 45"/>
            <p:cNvSpPr/>
            <p:nvPr/>
          </p:nvSpPr>
          <p:spPr>
            <a:xfrm>
              <a:off x="533400" y="62865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2922" y="6406991"/>
              <a:ext cx="19626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Source: report_draft_revised.docx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4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302895"/>
              <a:ext cx="1012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KEY TECHNIQUE 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07 / 15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1015" y="601028"/>
            <a:ext cx="9347930" cy="518160"/>
            <a:chOff x="501015" y="601028"/>
            <a:chExt cx="9347930" cy="518160"/>
          </a:xfrm>
        </p:grpSpPr>
        <p:sp>
          <p:nvSpPr>
            <p:cNvPr id="8" name="TextBox 8"/>
            <p:cNvSpPr txBox="1"/>
            <p:nvPr/>
          </p:nvSpPr>
          <p:spPr>
            <a:xfrm>
              <a:off x="501015" y="601028"/>
              <a:ext cx="934793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图像预处理：改善文字和线条质量，但不承担最终结构判断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1390650"/>
            <a:ext cx="5639633" cy="3848100"/>
            <a:chOff x="533400" y="1390650"/>
            <a:chExt cx="5639633" cy="3848100"/>
          </a:xfrm>
        </p:grpSpPr>
        <p:sp>
          <p:nvSpPr>
            <p:cNvPr id="10" name="Rectangle 10"/>
            <p:cNvSpPr/>
            <p:nvPr/>
          </p:nvSpPr>
          <p:spPr>
            <a:xfrm>
              <a:off x="533400" y="1390650"/>
              <a:ext cx="4686300" cy="3848100"/>
            </a:xfrm>
            <a:prstGeom prst="roundRect">
              <a:avLst>
                <a:gd name="adj" fmla="val 148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0095" y="15744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保留下来的基础操作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4858" y="1995964"/>
              <a:ext cx="4469130" cy="1478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1. 灰度化：去掉颜色信息，减少立绘与背景色彩对线条、文字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提取的干扰。</a:t>
              </a:r>
            </a:p>
            <a:p>
              <a:pPr algn="l">
                <a:lnSpc>
                  <a:spcPts val="1950"/>
                </a:lnSpc>
                <a:spcBef>
                  <a:spcPts val="900"/>
                </a:spcBef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2. 模糊降噪：平滑局部噪声，为阈值分割提供更稳定输入。</a:t>
              </a:r>
            </a:p>
            <a:p>
              <a:pPr algn="l">
                <a:lnSpc>
                  <a:spcPts val="1950"/>
                </a:lnSpc>
                <a:spcBef>
                  <a:spcPts val="900"/>
                </a:spcBef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3. 二值化：把文字和表格线条转为高对比前景，使边界更容易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被后续定位和网格恢复使用。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81050" y="4114800"/>
              <a:ext cx="3943350" cy="723900"/>
            </a:xfrm>
            <a:prstGeom prst="roundRect">
              <a:avLst>
                <a:gd name="adj" fmla="val 7895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5360" y="42710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阶段收益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6312" y="4545806"/>
              <a:ext cx="51967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提升 OCR 对表格内部文字的稳定性，也让边框和网格线更容易从背景中分离。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619750" y="1390650"/>
            <a:ext cx="6038850" cy="3848100"/>
            <a:chOff x="5619750" y="1390650"/>
            <a:chExt cx="6038850" cy="3848100"/>
          </a:xfrm>
        </p:grpSpPr>
        <p:sp>
          <p:nvSpPr>
            <p:cNvPr id="17" name="Rectangle 17"/>
            <p:cNvSpPr/>
            <p:nvPr/>
          </p:nvSpPr>
          <p:spPr>
            <a:xfrm>
              <a:off x="5619750" y="1390650"/>
              <a:ext cx="6038850" cy="3848100"/>
            </a:xfrm>
            <a:prstGeom prst="roundRect">
              <a:avLst>
                <a:gd name="adj" fmla="val 1485"/>
              </a:avLst>
            </a:prstGeom>
            <a:solidFill>
              <a:srgbClr val="F6F8FB"/>
            </a:solidFill>
            <a:ln w="9525">
              <a:solidFill>
                <a:srgbClr val="CBD5E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24550" y="1809750"/>
              <a:ext cx="1619250" cy="209550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  <a:custDash>
                <a:ds d="800000" sp="800000"/>
              </a:custDash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28006" y="25974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66273"/>
                  </a:solidFill>
                  <a:latin typeface="Arial"/>
                  <a:ea typeface="Microsoft YaHei"/>
                  <a:cs typeface="Arial"/>
                </a:rPr>
                <a:t>原图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867650" y="1809750"/>
              <a:ext cx="1619250" cy="209550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  <a:custDash>
                <a:ds d="800000" sp="800000"/>
              </a:custDash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73394" y="2597468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66273"/>
                  </a:solidFill>
                  <a:latin typeface="Arial"/>
                  <a:ea typeface="Microsoft YaHei"/>
                  <a:cs typeface="Arial"/>
                </a:rPr>
                <a:t>灰度 / 降噪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810750" y="1809750"/>
              <a:ext cx="1619250" cy="209550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  <a:custDash>
                <a:ds d="800000" sp="800000"/>
              </a:custDash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19695" y="25974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66273"/>
                  </a:solidFill>
                  <a:latin typeface="Arial"/>
                  <a:ea typeface="Microsoft YaHei"/>
                  <a:cs typeface="Arial"/>
                </a:rPr>
                <a:t>二值化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87828" y="4221956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66273"/>
                  </a:solidFill>
                  <a:latin typeface="Arial"/>
                  <a:ea typeface="Microsoft YaHei"/>
                  <a:cs typeface="Arial"/>
                </a:rPr>
                <a:t>图像占位：可替换为预处理前后对比图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33400" y="5505450"/>
            <a:ext cx="11125200" cy="571500"/>
            <a:chOff x="533400" y="5505450"/>
            <a:chExt cx="11125200" cy="571500"/>
          </a:xfrm>
        </p:grpSpPr>
        <p:sp>
          <p:nvSpPr>
            <p:cNvPr id="26" name="Rectangle 26"/>
            <p:cNvSpPr/>
            <p:nvPr/>
          </p:nvSpPr>
          <p:spPr>
            <a:xfrm>
              <a:off x="533400" y="5505450"/>
              <a:ext cx="1112520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5808" y="5710714"/>
              <a:ext cx="71732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边界：预处理解决的是图像质量问题，不能单独解决表格结构问题；参数对截图风格仍有依赖。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2922" y="6286500"/>
            <a:ext cx="11135678" cy="288131"/>
            <a:chOff x="522922" y="6286500"/>
            <a:chExt cx="11135678" cy="288131"/>
          </a:xfrm>
        </p:grpSpPr>
        <p:sp>
          <p:nvSpPr>
            <p:cNvPr id="29" name="Rectangle 29"/>
            <p:cNvSpPr/>
            <p:nvPr/>
          </p:nvSpPr>
          <p:spPr>
            <a:xfrm>
              <a:off x="533400" y="62865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2922" y="6406991"/>
              <a:ext cx="19626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Source: report_draft_revised.docx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25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302895"/>
              <a:ext cx="1012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KEY TECHNIQUE 02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08 / 15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1015" y="601028"/>
            <a:ext cx="9151556" cy="518160"/>
            <a:chOff x="501015" y="601028"/>
            <a:chExt cx="9151556" cy="518160"/>
          </a:xfrm>
        </p:grpSpPr>
        <p:sp>
          <p:nvSpPr>
            <p:cNvPr id="8" name="TextBox 8"/>
            <p:cNvSpPr txBox="1"/>
            <p:nvPr/>
          </p:nvSpPr>
          <p:spPr>
            <a:xfrm>
              <a:off x="501015" y="601028"/>
              <a:ext cx="915155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表格区域定位与网格恢复：把 OCR 输入限定到可控单元格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1409700"/>
            <a:ext cx="4953000" cy="3905250"/>
            <a:chOff x="533400" y="1409700"/>
            <a:chExt cx="4953000" cy="3905250"/>
          </a:xfrm>
        </p:grpSpPr>
        <p:sp>
          <p:nvSpPr>
            <p:cNvPr id="10" name="Rectangle 10"/>
            <p:cNvSpPr/>
            <p:nvPr/>
          </p:nvSpPr>
          <p:spPr>
            <a:xfrm>
              <a:off x="533400" y="1409700"/>
              <a:ext cx="4953000" cy="3905250"/>
            </a:xfrm>
            <a:prstGeom prst="roundRect">
              <a:avLst>
                <a:gd name="adj" fmla="val 14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0095" y="15744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网格恢复示意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14400" y="2190750"/>
              <a:ext cx="4000500" cy="228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F293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714500" y="21907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514600" y="21907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314700" y="21907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114800" y="21907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14400" y="27622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" y="33337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14400" y="39052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17437" y="4747260"/>
              <a:ext cx="27944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横线 + 竖线 + 交点关系 → 单元格边界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05500" y="1409700"/>
            <a:ext cx="6015990" cy="3905250"/>
            <a:chOff x="5905500" y="1409700"/>
            <a:chExt cx="6015990" cy="3905250"/>
          </a:xfrm>
        </p:grpSpPr>
        <p:sp>
          <p:nvSpPr>
            <p:cNvPr id="22" name="Rectangle 22"/>
            <p:cNvSpPr/>
            <p:nvPr/>
          </p:nvSpPr>
          <p:spPr>
            <a:xfrm>
              <a:off x="5905500" y="1409700"/>
              <a:ext cx="5753100" cy="180975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32195" y="15744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区域定位的演进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36958" y="1957864"/>
              <a:ext cx="521398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早期单纯寻找最大候选块，容易把立绘或上方说明一起裁入。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后续改为优先寻找规则网格主体，综合线条密度、矩形特征和网格规律，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使裁剪范围既覆盖完整表格，又尽量避免无关元素。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905500" y="3524250"/>
              <a:ext cx="2743200" cy="1790700"/>
            </a:xfrm>
            <a:prstGeom prst="roundRect">
              <a:avLst>
                <a:gd name="adj" fmla="val 3191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33148" y="3697129"/>
              <a:ext cx="48106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0F766E"/>
                  </a:solidFill>
                  <a:latin typeface="Arial"/>
                  <a:ea typeface="SimHei"/>
                  <a:cs typeface="Arial"/>
                </a:rPr>
                <a:t>收益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37910" y="4080510"/>
              <a:ext cx="3078480" cy="7391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OCR 不再猜整张表格布局。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单元格局部错误不会破坏整体行列关系。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行列边界保留后，后处理和人工校验更稳定。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15400" y="3524250"/>
              <a:ext cx="2743200" cy="1790700"/>
            </a:xfrm>
            <a:prstGeom prst="roundRect">
              <a:avLst>
                <a:gd name="adj" fmla="val 319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43048" y="36971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91C1C"/>
                  </a:solidFill>
                  <a:latin typeface="Arial"/>
                  <a:ea typeface="SimHei"/>
                  <a:cs typeface="Arial"/>
                </a:rPr>
                <a:t>边界问题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47810" y="4080510"/>
              <a:ext cx="2773680" cy="7391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细线、断线和压缩质量会影响线条检测。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表头合并单元格会增加边界推断难度。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阈值、核大小和线合并策略仍需调参。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2922" y="6286500"/>
            <a:ext cx="11135678" cy="288131"/>
            <a:chOff x="522922" y="6286500"/>
            <a:chExt cx="11135678" cy="288131"/>
          </a:xfrm>
        </p:grpSpPr>
        <p:sp>
          <p:nvSpPr>
            <p:cNvPr id="32" name="Rectangle 32"/>
            <p:cNvSpPr/>
            <p:nvPr/>
          </p:nvSpPr>
          <p:spPr>
            <a:xfrm>
              <a:off x="533400" y="62865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2922" y="6406991"/>
              <a:ext cx="19626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Source: report_draft_revised.docx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302895"/>
              <a:ext cx="1012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KEY TECHNIQUE 03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09 / 15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1015" y="601028"/>
            <a:ext cx="9865645" cy="518160"/>
            <a:chOff x="501015" y="601028"/>
            <a:chExt cx="9865645" cy="518160"/>
          </a:xfrm>
        </p:grpSpPr>
        <p:sp>
          <p:nvSpPr>
            <p:cNvPr id="8" name="TextBox 8"/>
            <p:cNvSpPr txBox="1"/>
            <p:nvPr/>
          </p:nvSpPr>
          <p:spPr>
            <a:xfrm>
              <a:off x="501015" y="601028"/>
              <a:ext cx="986564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单元格 OCR 与复杂动作解析：识别文本之后还要恢复动作语义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1390650"/>
            <a:ext cx="11125200" cy="1085850"/>
            <a:chOff x="533400" y="1390650"/>
            <a:chExt cx="11125200" cy="1085850"/>
          </a:xfrm>
        </p:grpSpPr>
        <p:sp>
          <p:nvSpPr>
            <p:cNvPr id="10" name="Rectangle 10"/>
            <p:cNvSpPr/>
            <p:nvPr/>
          </p:nvSpPr>
          <p:spPr>
            <a:xfrm>
              <a:off x="533400" y="1390650"/>
              <a:ext cx="11125200" cy="10858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1048" y="1582579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复杂动作格示例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067050" y="1657350"/>
              <a:ext cx="1143000" cy="457200"/>
            </a:xfrm>
            <a:prstGeom prst="roundRect">
              <a:avLst>
                <a:gd name="adj" fmla="val 8333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490529" y="1774508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3↑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76750" y="1657350"/>
              <a:ext cx="1143000" cy="457200"/>
            </a:xfrm>
            <a:prstGeom prst="roundRect">
              <a:avLst>
                <a:gd name="adj" fmla="val 8333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900229" y="1774508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5A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886450" y="1657350"/>
              <a:ext cx="1143000" cy="457200"/>
            </a:xfrm>
            <a:prstGeom prst="roundRect">
              <a:avLst>
                <a:gd name="adj" fmla="val 8333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19330" y="1774508"/>
              <a:ext cx="6772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3A/4A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96150" y="1657350"/>
              <a:ext cx="1409700" cy="457200"/>
            </a:xfrm>
            <a:prstGeom prst="roundRect">
              <a:avLst>
                <a:gd name="adj" fmla="val 8333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05808" y="18068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多行动作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972550" y="1657350"/>
              <a:ext cx="1409700" cy="457200"/>
            </a:xfrm>
            <a:prstGeom prst="roundRect">
              <a:avLst>
                <a:gd name="adj" fmla="val 8333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2208" y="18068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条件说明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2857500"/>
            <a:ext cx="12226290" cy="2190750"/>
            <a:chOff x="533400" y="2857500"/>
            <a:chExt cx="12226290" cy="2190750"/>
          </a:xfrm>
        </p:grpSpPr>
        <p:sp>
          <p:nvSpPr>
            <p:cNvPr id="23" name="Rectangle 23"/>
            <p:cNvSpPr/>
            <p:nvPr/>
          </p:nvSpPr>
          <p:spPr>
            <a:xfrm>
              <a:off x="533400" y="2857500"/>
              <a:ext cx="3429000" cy="2190750"/>
            </a:xfrm>
            <a:prstGeom prst="roundRect">
              <a:avLst>
                <a:gd name="adj" fmla="val 260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8668" y="31141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0095" y="33651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子行切分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5810" y="3775710"/>
              <a:ext cx="4450080" cy="4819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复杂格不直接整体识别，先在单元格内部判断是否存在多行内容，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把 OCR 输入进一步拆小。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81500" y="2857500"/>
              <a:ext cx="3429000" cy="2190750"/>
            </a:xfrm>
            <a:prstGeom prst="roundRect">
              <a:avLst>
                <a:gd name="adj" fmla="val 2609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16768" y="31141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8195" y="33651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动作符号解析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13910" y="3775710"/>
              <a:ext cx="4297680" cy="4819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结合业务规则识别数字、方向箭头、攻击符号和组合动作，尽量</a:t>
              </a:r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恢复原始动作顺序。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229600" y="2857500"/>
              <a:ext cx="3429000" cy="2190750"/>
            </a:xfrm>
            <a:prstGeom prst="roundRect">
              <a:avLst>
                <a:gd name="adj" fmla="val 260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4868" y="31141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56295" y="33651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低置信保留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62010" y="3775710"/>
              <a:ext cx="4297680" cy="4819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遇到无法完全判断的片段时保留原始识别痕迹和调试信息，避免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后处理过度修正。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3400" y="5410200"/>
            <a:ext cx="11125200" cy="571500"/>
            <a:chOff x="533400" y="5410200"/>
            <a:chExt cx="11125200" cy="571500"/>
          </a:xfrm>
        </p:grpSpPr>
        <p:sp>
          <p:nvSpPr>
            <p:cNvPr id="36" name="Rectangle 36"/>
            <p:cNvSpPr/>
            <p:nvPr/>
          </p:nvSpPr>
          <p:spPr>
            <a:xfrm>
              <a:off x="533400" y="5410200"/>
              <a:ext cx="11125200" cy="571500"/>
            </a:xfrm>
            <a:prstGeom prst="roundRect">
              <a:avLst>
                <a:gd name="adj" fmla="val 10000"/>
              </a:avLst>
            </a:prstGeom>
            <a:solidFill>
              <a:srgbClr val="F6F8FB"/>
            </a:solidFill>
            <a:ln w="9525">
              <a:solidFill>
                <a:srgbClr val="CBD5E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5808" y="5615464"/>
              <a:ext cx="77173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这一阶段把系统从“能读出表格文字”推进到“能理解攻略动作表达”，也是自动化执行能否衔接的关键。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2922" y="6286500"/>
            <a:ext cx="11135678" cy="288131"/>
            <a:chOff x="522922" y="6286500"/>
            <a:chExt cx="11135678" cy="288131"/>
          </a:xfrm>
        </p:grpSpPr>
        <p:sp>
          <p:nvSpPr>
            <p:cNvPr id="39" name="Rectangle 39"/>
            <p:cNvSpPr/>
            <p:nvPr/>
          </p:nvSpPr>
          <p:spPr>
            <a:xfrm>
              <a:off x="533400" y="62865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2922" y="6406991"/>
              <a:ext cx="19626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Source: report_draft_revised.docx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/>
      <p:bldP spid="35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302895"/>
              <a:ext cx="1030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POST-PROCESSING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10 / 15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1015" y="601028"/>
            <a:ext cx="11293823" cy="518160"/>
            <a:chOff x="501015" y="601028"/>
            <a:chExt cx="11293823" cy="518160"/>
          </a:xfrm>
        </p:grpSpPr>
        <p:sp>
          <p:nvSpPr>
            <p:cNvPr id="8" name="TextBox 8"/>
            <p:cNvSpPr txBox="1"/>
            <p:nvPr/>
          </p:nvSpPr>
          <p:spPr>
            <a:xfrm>
              <a:off x="501015" y="601028"/>
              <a:ext cx="1129382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后处理：自动化系统需要结构化字段，而不是一段接近原图的 OCR 文本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1390650"/>
            <a:ext cx="4953000" cy="4000500"/>
            <a:chOff x="533400" y="1390650"/>
            <a:chExt cx="4953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33400" y="1390650"/>
              <a:ext cx="4953000" cy="4000500"/>
            </a:xfrm>
            <a:prstGeom prst="roundRect">
              <a:avLst>
                <a:gd name="adj" fmla="val 14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0095" y="1574482"/>
              <a:ext cx="23868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B91C1C"/>
                  </a:solidFill>
                  <a:latin typeface="Arial"/>
                  <a:ea typeface="SimHei"/>
                  <a:cs typeface="Arial"/>
                </a:rPr>
                <a:t>OCR 原始输出常见问题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4858" y="2015014"/>
              <a:ext cx="3732371" cy="12306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回合字段不统一：1回合、1 回合、识别成近似字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动作串粘连：数字、方向、攻击符号缺少边界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多行内容混合：说明文字与动作列互相干扰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• 局部低置信：单个格子错误不能扩散到整张表结构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81050" y="4191000"/>
              <a:ext cx="4210050" cy="704850"/>
            </a:xfrm>
            <a:prstGeom prst="roundRect">
              <a:avLst>
                <a:gd name="adj" fmla="val 8108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5360" y="43472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处理原则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6312" y="4622006"/>
              <a:ext cx="4229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能确定的规范化；不能确定的保留原始痕迹并暴露给调试链路。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905500" y="1390650"/>
            <a:ext cx="5753100" cy="4000500"/>
            <a:chOff x="5905500" y="1390650"/>
            <a:chExt cx="5753100" cy="4000500"/>
          </a:xfrm>
        </p:grpSpPr>
        <p:sp>
          <p:nvSpPr>
            <p:cNvPr id="17" name="Rectangle 17"/>
            <p:cNvSpPr/>
            <p:nvPr/>
          </p:nvSpPr>
          <p:spPr>
            <a:xfrm>
              <a:off x="5905500" y="1390650"/>
              <a:ext cx="5753100" cy="4000500"/>
            </a:xfrm>
            <a:prstGeom prst="roundRect">
              <a:avLst>
                <a:gd name="adj" fmla="val 14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05500" y="1390650"/>
              <a:ext cx="5753100" cy="457200"/>
            </a:xfrm>
            <a:prstGeom prst="roundRect">
              <a:avLst>
                <a:gd name="adj" fmla="val 125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56008" y="154828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转换目标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84808" y="154828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处理方式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734300" y="139065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5905500" y="2419350"/>
              <a:ext cx="5753100" cy="9525"/>
            </a:xfrm>
            <a:custGeom>
              <a:avLst/>
              <a:gdLst/>
              <a:ahLst/>
              <a:cxnLst/>
              <a:rect l="l" t="t" r="r" b="b"/>
              <a:pathLst>
                <a:path w="5753100" h="9525">
                  <a:moveTo>
                    <a:pt x="0" y="0"/>
                  </a:moveTo>
                  <a:lnTo>
                    <a:pt x="57531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905500" y="3105150"/>
              <a:ext cx="5753100" cy="9525"/>
            </a:xfrm>
            <a:custGeom>
              <a:avLst/>
              <a:gdLst/>
              <a:ahLst/>
              <a:cxnLst/>
              <a:rect l="l" t="t" r="r" b="b"/>
              <a:pathLst>
                <a:path w="5753100" h="9525">
                  <a:moveTo>
                    <a:pt x="0" y="0"/>
                  </a:moveTo>
                  <a:lnTo>
                    <a:pt x="57531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5905500" y="3790950"/>
              <a:ext cx="5753100" cy="9525"/>
            </a:xfrm>
            <a:custGeom>
              <a:avLst/>
              <a:gdLst/>
              <a:ahLst/>
              <a:cxnLst/>
              <a:rect l="l" t="t" r="r" b="b"/>
              <a:pathLst>
                <a:path w="5753100" h="9525">
                  <a:moveTo>
                    <a:pt x="0" y="0"/>
                  </a:moveTo>
                  <a:lnTo>
                    <a:pt x="57531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905500" y="4476750"/>
              <a:ext cx="5753100" cy="9525"/>
            </a:xfrm>
            <a:custGeom>
              <a:avLst/>
              <a:gdLst/>
              <a:ahLst/>
              <a:cxnLst/>
              <a:rect l="l" t="t" r="r" b="b"/>
              <a:pathLst>
                <a:path w="5753100" h="9525">
                  <a:moveTo>
                    <a:pt x="0" y="0"/>
                  </a:moveTo>
                  <a:lnTo>
                    <a:pt x="57531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56960" y="20802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回合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85760" y="2004060"/>
              <a:ext cx="32308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统一为稳定行字段，修正空格和近似误识别。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56960" y="27660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角色列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85760" y="2689860"/>
              <a:ext cx="32308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保持列位置，不因个别单元格错误改变布局。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56960" y="3451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动作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85760" y="337566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解析数字、方向、攻击符号与组合动作。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56960" y="41376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说明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85760" y="406146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与动作字段区分，避免混入自动执行指令。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56960" y="48234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85760" y="4747260"/>
              <a:ext cx="2830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round, col_1, col_2, col_3, note...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22922" y="6286500"/>
            <a:ext cx="11135678" cy="288131"/>
            <a:chOff x="522922" y="6286500"/>
            <a:chExt cx="11135678" cy="288131"/>
          </a:xfrm>
        </p:grpSpPr>
        <p:sp>
          <p:nvSpPr>
            <p:cNvPr id="37" name="Rectangle 37"/>
            <p:cNvSpPr/>
            <p:nvPr/>
          </p:nvSpPr>
          <p:spPr>
            <a:xfrm>
              <a:off x="533400" y="62865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2922" y="6406991"/>
              <a:ext cx="19626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Source: report_draft_revised.docx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302895"/>
              <a:ext cx="10429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OUTPUT AND DEBUG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11 / 15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1015" y="601028"/>
            <a:ext cx="10936779" cy="518160"/>
            <a:chOff x="501015" y="601028"/>
            <a:chExt cx="10936779" cy="518160"/>
          </a:xfrm>
        </p:grpSpPr>
        <p:sp>
          <p:nvSpPr>
            <p:cNvPr id="8" name="TextBox 8"/>
            <p:cNvSpPr txBox="1"/>
            <p:nvPr/>
          </p:nvSpPr>
          <p:spPr>
            <a:xfrm>
              <a:off x="501015" y="601028"/>
              <a:ext cx="1093677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输出结果与可调试性：结果不是 OCR 文本，而是边界清楚的表格数据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33400" y="1409700"/>
            <a:ext cx="6496050" cy="3790950"/>
            <a:chOff x="533400" y="1409700"/>
            <a:chExt cx="6496050" cy="3790950"/>
          </a:xfrm>
        </p:grpSpPr>
        <p:sp>
          <p:nvSpPr>
            <p:cNvPr id="10" name="Rectangle 10"/>
            <p:cNvSpPr/>
            <p:nvPr/>
          </p:nvSpPr>
          <p:spPr>
            <a:xfrm>
              <a:off x="533400" y="1409700"/>
              <a:ext cx="6496050" cy="3790950"/>
            </a:xfrm>
            <a:prstGeom prst="roundRect">
              <a:avLst>
                <a:gd name="adj" fmla="val 150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0095" y="1574482"/>
              <a:ext cx="187859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CSV 输出示例占位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076450"/>
              <a:ext cx="6000750" cy="2362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2076450"/>
              <a:ext cx="6000750" cy="381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10615" y="2210752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round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77415" y="2210752"/>
              <a:ext cx="3942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col_1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44215" y="2210752"/>
              <a:ext cx="3942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col_2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11015" y="2210752"/>
              <a:ext cx="3942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col_3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77815" y="2210752"/>
              <a:ext cx="3501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note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81050" y="2914650"/>
              <a:ext cx="6000750" cy="9525"/>
            </a:xfrm>
            <a:custGeom>
              <a:avLst/>
              <a:gdLst/>
              <a:ahLst/>
              <a:cxnLst/>
              <a:rect l="l" t="t" r="r" b="b"/>
              <a:pathLst>
                <a:path w="6000750" h="9525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81050" y="3371850"/>
              <a:ext cx="6000750" cy="9525"/>
            </a:xfrm>
            <a:custGeom>
              <a:avLst/>
              <a:gdLst/>
              <a:ahLst/>
              <a:cxnLst/>
              <a:rect l="l" t="t" r="r" b="b"/>
              <a:pathLst>
                <a:path w="6000750" h="9525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81050" y="3829050"/>
              <a:ext cx="6000750" cy="9525"/>
            </a:xfrm>
            <a:custGeom>
              <a:avLst/>
              <a:gdLst/>
              <a:ahLst/>
              <a:cxnLst/>
              <a:rect l="l" t="t" r="r" b="b"/>
              <a:pathLst>
                <a:path w="6000750" h="9525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847850" y="2076450"/>
              <a:ext cx="9525" cy="2362200"/>
            </a:xfrm>
            <a:custGeom>
              <a:avLst/>
              <a:gdLst/>
              <a:ahLst/>
              <a:cxnLst/>
              <a:rect l="l" t="t" r="r" b="b"/>
              <a:pathLst>
                <a:path w="9525" h="2362200">
                  <a:moveTo>
                    <a:pt x="0" y="0"/>
                  </a:moveTo>
                  <a:lnTo>
                    <a:pt x="0" y="23622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914650" y="2076450"/>
              <a:ext cx="9525" cy="2362200"/>
            </a:xfrm>
            <a:custGeom>
              <a:avLst/>
              <a:gdLst/>
              <a:ahLst/>
              <a:cxnLst/>
              <a:rect l="l" t="t" r="r" b="b"/>
              <a:pathLst>
                <a:path w="9525" h="2362200">
                  <a:moveTo>
                    <a:pt x="0" y="0"/>
                  </a:moveTo>
                  <a:lnTo>
                    <a:pt x="0" y="23622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3981450" y="2076450"/>
              <a:ext cx="9525" cy="2362200"/>
            </a:xfrm>
            <a:custGeom>
              <a:avLst/>
              <a:gdLst/>
              <a:ahLst/>
              <a:cxnLst/>
              <a:rect l="l" t="t" r="r" b="b"/>
              <a:pathLst>
                <a:path w="9525" h="2362200">
                  <a:moveTo>
                    <a:pt x="0" y="0"/>
                  </a:moveTo>
                  <a:lnTo>
                    <a:pt x="0" y="23622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048250" y="2076450"/>
              <a:ext cx="9525" cy="2362200"/>
            </a:xfrm>
            <a:custGeom>
              <a:avLst/>
              <a:gdLst/>
              <a:ahLst/>
              <a:cxnLst/>
              <a:rect l="l" t="t" r="r" b="b"/>
              <a:pathLst>
                <a:path w="9525" h="2362200">
                  <a:moveTo>
                    <a:pt x="0" y="0"/>
                  </a:moveTo>
                  <a:lnTo>
                    <a:pt x="0" y="23622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10615" y="262985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1回合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77415" y="26298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3↑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44215" y="26298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5A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11015" y="26298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4↑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77815" y="26298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条件动作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0615" y="308705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2回合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77415" y="30870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5↑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44215" y="30870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3↓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11015" y="30870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2A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77815" y="30870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说明字段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0615" y="3544252"/>
              <a:ext cx="383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3回合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77415" y="35442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3↓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44215" y="35442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2↓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11015" y="35442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Consolas"/>
                  <a:ea typeface="Microsoft YaHei"/>
                  <a:cs typeface="Consolas"/>
                </a:rPr>
                <a:t>4↓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77815" y="35442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可校验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6762" y="4736306"/>
              <a:ext cx="39290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66273"/>
                  </a:solidFill>
                  <a:latin typeface="Arial"/>
                  <a:ea typeface="Microsoft YaHei"/>
                  <a:cs typeface="Arial"/>
                </a:rPr>
                <a:t>占位数据用于说明字段形态；实际内容可由识别结果替换。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448550" y="1409700"/>
            <a:ext cx="5122068" cy="3790950"/>
            <a:chOff x="7448550" y="1409700"/>
            <a:chExt cx="5122068" cy="3790950"/>
          </a:xfrm>
        </p:grpSpPr>
        <p:sp>
          <p:nvSpPr>
            <p:cNvPr id="43" name="Rectangle 43"/>
            <p:cNvSpPr/>
            <p:nvPr/>
          </p:nvSpPr>
          <p:spPr>
            <a:xfrm>
              <a:off x="7448550" y="1409700"/>
              <a:ext cx="4210050" cy="3790950"/>
            </a:xfrm>
            <a:prstGeom prst="roundRect">
              <a:avLst>
                <a:gd name="adj" fmla="val 150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75245" y="15744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766E"/>
                  </a:solidFill>
                  <a:latin typeface="Arial"/>
                  <a:ea typeface="SimHei"/>
                  <a:cs typeface="Arial"/>
                </a:rPr>
                <a:t>为什么链路可调试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80960" y="2023110"/>
              <a:ext cx="3901440" cy="12153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1. 预处理结果可单独查看，判断阈值和降噪是否合适。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2. 区域定位结果可检查是否裁入立绘、漏掉表头或尾列。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3. 网格恢复结果可直接观察行列线和单元格边界。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4. OCR 与后处理错误可以追溯到具体单元格。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96200" y="3962400"/>
              <a:ext cx="3467100" cy="685800"/>
            </a:xfrm>
            <a:prstGeom prst="roundRect">
              <a:avLst>
                <a:gd name="adj" fmla="val 8333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90510" y="41376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工程意义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91462" y="4393406"/>
              <a:ext cx="4679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当新截图失败时，不需要整体推翻方案，而是定位到阶段后增量优化。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22922" y="6286500"/>
            <a:ext cx="11135678" cy="288131"/>
            <a:chOff x="522922" y="6286500"/>
            <a:chExt cx="11135678" cy="288131"/>
          </a:xfrm>
        </p:grpSpPr>
        <p:sp>
          <p:nvSpPr>
            <p:cNvPr id="50" name="Rectangle 50"/>
            <p:cNvSpPr/>
            <p:nvPr/>
          </p:nvSpPr>
          <p:spPr>
            <a:xfrm>
              <a:off x="533400" y="62865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2922" y="6406991"/>
              <a:ext cx="19626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Source: report_draft_revised.docx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2" grpId="0"/>
      <p:bldP spid="4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302895"/>
              <a:ext cx="9709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ITERATION STORY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12 / 15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1015" y="601028"/>
            <a:ext cx="7562707" cy="518160"/>
            <a:chOff x="501015" y="601028"/>
            <a:chExt cx="7562707" cy="518160"/>
          </a:xfrm>
        </p:grpSpPr>
        <p:sp>
          <p:nvSpPr>
            <p:cNvPr id="8" name="TextBox 8"/>
            <p:cNvSpPr txBox="1"/>
            <p:nvPr/>
          </p:nvSpPr>
          <p:spPr>
            <a:xfrm>
              <a:off x="501015" y="601028"/>
              <a:ext cx="756270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系统迭代过程：每一阶段都对应一个具体失败点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1409700"/>
            <a:ext cx="11125200" cy="4114800"/>
            <a:chOff x="533400" y="1409700"/>
            <a:chExt cx="11125200" cy="4114800"/>
          </a:xfrm>
        </p:grpSpPr>
        <p:sp>
          <p:nvSpPr>
            <p:cNvPr id="10" name="Rectangle 10"/>
            <p:cNvSpPr/>
            <p:nvPr/>
          </p:nvSpPr>
          <p:spPr>
            <a:xfrm>
              <a:off x="533400" y="1409700"/>
              <a:ext cx="11125200" cy="4114800"/>
            </a:xfrm>
            <a:prstGeom prst="roundRect">
              <a:avLst>
                <a:gd name="adj" fmla="val 13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1962150"/>
              <a:ext cx="9525" cy="2990850"/>
            </a:xfrm>
            <a:custGeom>
              <a:avLst/>
              <a:gdLst/>
              <a:ahLst/>
              <a:cxnLst/>
              <a:rect l="l" t="t" r="r" b="b"/>
              <a:pathLst>
                <a:path w="9525" h="2990850">
                  <a:moveTo>
                    <a:pt x="0" y="0"/>
                  </a:moveTo>
                  <a:lnTo>
                    <a:pt x="0" y="299085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352550" y="1885950"/>
              <a:ext cx="152400" cy="152400"/>
            </a:xfrm>
            <a:prstGeom prst="rect">
              <a:avLst/>
            </a:prstGeom>
            <a:solidFill>
              <a:srgbClr val="1F293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93558" y="1891189"/>
              <a:ext cx="18443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阶段一：云端表格 OCR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47260" y="1899285"/>
              <a:ext cx="4511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快速验证可行性，但高频调用成本和结构不稳定问题逐渐显现。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52550" y="2628900"/>
              <a:ext cx="152400" cy="152400"/>
            </a:xfrm>
            <a:prstGeom prst="rect">
              <a:avLst/>
            </a:prstGeom>
            <a:solidFill>
              <a:srgbClr val="1F293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93558" y="2634139"/>
              <a:ext cx="18443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阶段二：直接整图 OCR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47260" y="2642235"/>
              <a:ext cx="4831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能识别一些文字，但返回无序文本流，无法可靠恢复表格行列关系。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352550" y="3371850"/>
              <a:ext cx="152400" cy="152400"/>
            </a:xfrm>
            <a:prstGeom prst="rect">
              <a:avLst/>
            </a:prstGeom>
            <a:solidFill>
              <a:srgbClr val="1F293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793558" y="3377089"/>
              <a:ext cx="16390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阶段三：图像预处理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47260" y="3385185"/>
              <a:ext cx="46870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改善文字和线条对比度，但仍没有解决“结构是谁来判断”的问题。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352550" y="4114800"/>
              <a:ext cx="152400" cy="1524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93558" y="4120039"/>
              <a:ext cx="23799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阶段四：区域定位 + 网格恢复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47260" y="4128135"/>
              <a:ext cx="45350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把表格主体和单元格边界显式恢复，OCR 只负责读取局部内容。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352550" y="4857750"/>
              <a:ext cx="152400" cy="1524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793558" y="4862989"/>
              <a:ext cx="23531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阶段五：复杂格处理与后处理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47260" y="4871085"/>
              <a:ext cx="4831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处理多行动作、符号粘连和低置信结果，形成可调试的结构化输出。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5753100"/>
            <a:ext cx="11125200" cy="381000"/>
            <a:chOff x="533400" y="5753100"/>
            <a:chExt cx="11125200" cy="381000"/>
          </a:xfrm>
        </p:grpSpPr>
        <p:sp>
          <p:nvSpPr>
            <p:cNvPr id="28" name="Rectangle 28"/>
            <p:cNvSpPr/>
            <p:nvPr/>
          </p:nvSpPr>
          <p:spPr>
            <a:xfrm>
              <a:off x="533400" y="5753100"/>
              <a:ext cx="11125200" cy="381000"/>
            </a:xfrm>
            <a:prstGeom prst="roundRect">
              <a:avLst>
                <a:gd name="adj" fmla="val 15000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6760" y="5871210"/>
              <a:ext cx="6911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迭代特征：不是一步到位的算法替换，而是在真实样本中不断暴露边界情况，并按阶段逐步收敛。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2922" y="6286500"/>
            <a:ext cx="11135678" cy="288131"/>
            <a:chOff x="522922" y="6286500"/>
            <a:chExt cx="11135678" cy="288131"/>
          </a:xfrm>
        </p:grpSpPr>
        <p:sp>
          <p:nvSpPr>
            <p:cNvPr id="31" name="Rectangle 31"/>
            <p:cNvSpPr/>
            <p:nvPr/>
          </p:nvSpPr>
          <p:spPr>
            <a:xfrm>
              <a:off x="533400" y="62865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2922" y="6406991"/>
              <a:ext cx="19626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Source: report_draft_revised.docx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7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30289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CURRENT CAPABILITIES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13 / 15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1015" y="601028"/>
            <a:ext cx="9347930" cy="518160"/>
            <a:chOff x="501015" y="601028"/>
            <a:chExt cx="9347930" cy="518160"/>
          </a:xfrm>
        </p:grpSpPr>
        <p:sp>
          <p:nvSpPr>
            <p:cNvPr id="8" name="TextBox 8"/>
            <p:cNvSpPr txBox="1"/>
            <p:nvPr/>
          </p:nvSpPr>
          <p:spPr>
            <a:xfrm>
              <a:off x="501015" y="601028"/>
              <a:ext cx="934793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当前方案特点：面向固定结构攻略表格，形成本地识别闭环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1428750"/>
            <a:ext cx="11125200" cy="4381500"/>
            <a:chOff x="533400" y="1428750"/>
            <a:chExt cx="11125200" cy="4381500"/>
          </a:xfrm>
        </p:grpSpPr>
        <p:sp>
          <p:nvSpPr>
            <p:cNvPr id="10" name="Rectangle 10"/>
            <p:cNvSpPr/>
            <p:nvPr/>
          </p:nvSpPr>
          <p:spPr>
            <a:xfrm>
              <a:off x="533400" y="1428750"/>
              <a:ext cx="52197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8668" y="16854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0095" y="19364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专用场景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5810" y="2308860"/>
              <a:ext cx="42630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针对游戏攻略回合行动表，不追求任意文档 OCR 的通用性。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438900" y="1428750"/>
              <a:ext cx="52197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74168" y="16854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5595" y="19364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成本可控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71310" y="2308860"/>
              <a:ext cx="3390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主要在本地完成识别，减少高频云端 API 调用。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990850"/>
              <a:ext cx="5219700" cy="1257300"/>
            </a:xfrm>
            <a:prstGeom prst="roundRect">
              <a:avLst>
                <a:gd name="adj" fmla="val 4545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8668" y="32475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0095" y="34985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链路完整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5810" y="3870960"/>
              <a:ext cx="43750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覆盖预处理、定位、网格恢复、OCR 与后处理，能形成闭环。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38900" y="2990850"/>
              <a:ext cx="52197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74168" y="32475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5595" y="34985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可调试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71310" y="3870960"/>
              <a:ext cx="3390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中间过程图可以帮助定位问题发生在哪个阶段。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552950"/>
              <a:ext cx="52197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8668" y="48096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0095" y="50606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可迭代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5810" y="5433060"/>
              <a:ext cx="3390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新截图类型出现后，可针对具体环节增量优化。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38900" y="4552950"/>
              <a:ext cx="5219700" cy="1257300"/>
            </a:xfrm>
            <a:prstGeom prst="roundRect">
              <a:avLst>
                <a:gd name="adj" fmla="val 4545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65595" y="47367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766E"/>
                  </a:solidFill>
                  <a:latin typeface="Arial"/>
                  <a:ea typeface="SimHei"/>
                  <a:cs typeface="Arial"/>
                </a:rPr>
                <a:t>归纳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71310" y="5109210"/>
              <a:ext cx="4297680" cy="4819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方案价值不在于一次覆盖所有图片，而在于把问题拆成可观察、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可定位、可持续改进的处理链路。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22922" y="6286500"/>
            <a:ext cx="11135678" cy="288131"/>
            <a:chOff x="522922" y="6286500"/>
            <a:chExt cx="11135678" cy="288131"/>
          </a:xfrm>
        </p:grpSpPr>
        <p:sp>
          <p:nvSpPr>
            <p:cNvPr id="34" name="Rectangle 34"/>
            <p:cNvSpPr/>
            <p:nvPr/>
          </p:nvSpPr>
          <p:spPr>
            <a:xfrm>
              <a:off x="533400" y="62865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2922" y="6406991"/>
              <a:ext cx="19626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Source: report_draft_revised.docx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302895"/>
              <a:ext cx="1283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LIMITS AND NEXT STEPS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66273"/>
                  </a:solidFill>
                  <a:latin typeface="Consolas"/>
                  <a:ea typeface="Microsoft YaHei"/>
                  <a:cs typeface="Consolas"/>
                </a:rPr>
                <a:t>14 / 15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1015" y="601028"/>
            <a:ext cx="8633841" cy="518160"/>
            <a:chOff x="501015" y="601028"/>
            <a:chExt cx="8633841" cy="518160"/>
          </a:xfrm>
        </p:grpSpPr>
        <p:sp>
          <p:nvSpPr>
            <p:cNvPr id="8" name="TextBox 8"/>
            <p:cNvSpPr txBox="1"/>
            <p:nvPr/>
          </p:nvSpPr>
          <p:spPr>
            <a:xfrm>
              <a:off x="501015" y="601028"/>
              <a:ext cx="863384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存在问题与改进方向：泛化、参数和量化评估仍需补齐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1409700"/>
            <a:ext cx="11125200" cy="1619250"/>
            <a:chOff x="533400" y="1409700"/>
            <a:chExt cx="11125200" cy="1619250"/>
          </a:xfrm>
        </p:grpSpPr>
        <p:sp>
          <p:nvSpPr>
            <p:cNvPr id="10" name="Rectangle 10"/>
            <p:cNvSpPr/>
            <p:nvPr/>
          </p:nvSpPr>
          <p:spPr>
            <a:xfrm>
              <a:off x="533400" y="1409700"/>
              <a:ext cx="3429000" cy="1619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8668" y="16473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91C1C"/>
                  </a:solidFill>
                  <a:latin typeface="Consolas"/>
                  <a:ea typeface="Microsoft YaHei"/>
                  <a:cs typeface="Consolas"/>
                </a:rPr>
                <a:t>R1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0095" y="18983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截图风格适应性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5810" y="2289810"/>
              <a:ext cx="246888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复杂背景、立绘贴近表格、细线断裂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仍会影响定位和网格恢复。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1409700"/>
              <a:ext cx="3429000" cy="1619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16768" y="16473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91C1C"/>
                  </a:solidFill>
                  <a:latin typeface="Consolas"/>
                  <a:ea typeface="Microsoft YaHei"/>
                  <a:cs typeface="Consolas"/>
                </a:rPr>
                <a:t>R2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8195" y="18983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参数图像依赖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13910" y="2289810"/>
              <a:ext cx="216408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阈值、形态学核大小和线条合并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策略在不同截图上最优值不同。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229600" y="1409700"/>
              <a:ext cx="3429000" cy="1619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64868" y="16473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91C1C"/>
                  </a:solidFill>
                  <a:latin typeface="Consolas"/>
                  <a:ea typeface="Microsoft YaHei"/>
                  <a:cs typeface="Consolas"/>
                </a:rPr>
                <a:t>R3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56295" y="18983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3"/>
                  </a:solidFill>
                  <a:latin typeface="Arial"/>
                  <a:ea typeface="SimHei"/>
                  <a:cs typeface="Arial"/>
                </a:rPr>
                <a:t>复杂格边界情况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62010" y="2289810"/>
              <a:ext cx="231648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多行动作、混合说明和特殊符号</a:t>
              </a:r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组合仍可能造成局部识别不稳定。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3390900"/>
            <a:ext cx="11125200" cy="2000250"/>
            <a:chOff x="533400" y="3390900"/>
            <a:chExt cx="11125200" cy="2000250"/>
          </a:xfrm>
        </p:grpSpPr>
        <p:sp>
          <p:nvSpPr>
            <p:cNvPr id="23" name="Rectangle 23"/>
            <p:cNvSpPr/>
            <p:nvPr/>
          </p:nvSpPr>
          <p:spPr>
            <a:xfrm>
              <a:off x="533400" y="3390900"/>
              <a:ext cx="11125200" cy="2000250"/>
            </a:xfrm>
            <a:prstGeom prst="roundRect">
              <a:avLst>
                <a:gd name="adj" fmla="val 2857"/>
              </a:avLst>
            </a:prstGeom>
            <a:solidFill>
              <a:srgbClr val="EEF3F8"/>
            </a:solidFill>
            <a:ln w="9525">
              <a:solidFill>
                <a:srgbClr val="CBD5E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9142" y="358568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65C0"/>
                  </a:solidFill>
                  <a:latin typeface="Arial"/>
                  <a:ea typeface="SimHei"/>
                  <a:cs typeface="Arial"/>
                </a:rPr>
                <a:t>后续改进方向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1558" y="4034314"/>
              <a:ext cx="6412230" cy="12306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1. 引入更稳健的表格检测模型或学习式区域定位，提高复杂截图下的表格主体提取能力。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2. 针对动作符号构建更专门的识别与解析模块，而不是完全依赖通用 OCR。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3. 补充系统实验数据和误差统计，例如定位成功率、单元格识别准确率和错误类型。</a:t>
              </a:r>
              <a:r>
                <a:rPr lang="zh-CN" sz="127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4. 与自动化执行模块形成更紧密闭环，让截图最终转化为可验证、可编辑、可执行数据。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2922" y="6286500"/>
            <a:ext cx="11135678" cy="288131"/>
            <a:chOff x="522922" y="6286500"/>
            <a:chExt cx="11135678" cy="288131"/>
          </a:xfrm>
        </p:grpSpPr>
        <p:sp>
          <p:nvSpPr>
            <p:cNvPr id="27" name="Rectangle 27"/>
            <p:cNvSpPr/>
            <p:nvPr/>
          </p:nvSpPr>
          <p:spPr>
            <a:xfrm>
              <a:off x="533400" y="62865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2922" y="6406991"/>
              <a:ext cx="19626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Source: report_draft_revised.docx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1970" y="302895"/>
            <a:ext cx="11148060" cy="182880"/>
            <a:chOff x="521970" y="302895"/>
            <a:chExt cx="111480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302895"/>
              <a:ext cx="700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BD5E1"/>
                  </a:solidFill>
                  <a:latin typeface="Consolas"/>
                  <a:ea typeface="Microsoft YaHei"/>
                  <a:cs typeface="Consolas"/>
                </a:rPr>
                <a:t>CONCLUSION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45120" y="302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CBD5E1"/>
                  </a:solidFill>
                  <a:latin typeface="Consolas"/>
                  <a:ea typeface="Microsoft YaHei"/>
                  <a:cs typeface="Consolas"/>
                </a:rPr>
                <a:t>15 / 15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7205" y="816292"/>
            <a:ext cx="11026309" cy="907733"/>
            <a:chOff x="497205" y="816292"/>
            <a:chExt cx="11026309" cy="907733"/>
          </a:xfrm>
        </p:grpSpPr>
        <p:sp>
          <p:nvSpPr>
            <p:cNvPr id="8" name="TextBox 8"/>
            <p:cNvSpPr txBox="1"/>
            <p:nvPr/>
          </p:nvSpPr>
          <p:spPr>
            <a:xfrm>
              <a:off x="497205" y="816292"/>
              <a:ext cx="1102630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总结：结构恢复是本项目的主线，也是区别于直接 OCR 的关键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3400" y="1419225"/>
              <a:ext cx="68389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本项目来自真实应用需求，目标是把游戏攻略截图转换为程序可读取的数据。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2133600"/>
            <a:ext cx="11125200" cy="2000250"/>
            <a:chOff x="533400" y="2133600"/>
            <a:chExt cx="11125200" cy="2000250"/>
          </a:xfrm>
        </p:grpSpPr>
        <p:sp>
          <p:nvSpPr>
            <p:cNvPr id="11" name="Rectangle 11"/>
            <p:cNvSpPr/>
            <p:nvPr/>
          </p:nvSpPr>
          <p:spPr>
            <a:xfrm>
              <a:off x="533400" y="2133600"/>
              <a:ext cx="3390900" cy="2000250"/>
            </a:xfrm>
            <a:prstGeom prst="roundRect">
              <a:avLst>
                <a:gd name="adj" fmla="val 2857"/>
              </a:avLst>
            </a:prstGeom>
            <a:solidFill>
              <a:srgbClr val="FFFFFF">
                <a:alpha val="6000"/>
              </a:srgbClr>
            </a:solidFill>
            <a:ln w="9525">
              <a:solidFill>
                <a:srgbClr val="CBD5E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8668" y="23902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BD5E1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26631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技术路线清晰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4858" y="3100864"/>
              <a:ext cx="269605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围绕预处理、区域定位、网格恢复、</a:t>
              </a:r>
              <a:r>
                <a:rPr lang="zh-CN" sz="127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单元格 OCR 和后处理形成完整链路。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400550" y="2133600"/>
              <a:ext cx="3390900" cy="2000250"/>
            </a:xfrm>
            <a:prstGeom prst="roundRect">
              <a:avLst>
                <a:gd name="adj" fmla="val 2857"/>
              </a:avLst>
            </a:prstGeom>
            <a:solidFill>
              <a:srgbClr val="1565C0"/>
            </a:solidFill>
            <a:ln w="9525">
              <a:solidFill>
                <a:srgbClr val="1565C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35818" y="23902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5340" y="26631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工程问题真实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2008" y="3100864"/>
              <a:ext cx="2623185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方案强调成本控制、调试可解释性和</a:t>
              </a:r>
              <a:r>
                <a:rPr lang="zh-CN" sz="12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与自动化执行模块的衔接。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267700" y="2133600"/>
              <a:ext cx="3390900" cy="2000250"/>
            </a:xfrm>
            <a:prstGeom prst="roundRect">
              <a:avLst>
                <a:gd name="adj" fmla="val 2857"/>
              </a:avLst>
            </a:prstGeom>
            <a:solidFill>
              <a:srgbClr val="FFFFFF">
                <a:alpha val="6000"/>
              </a:srgbClr>
            </a:solidFill>
            <a:ln w="9525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02968" y="23902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BD5E1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92490" y="26631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边界认识明确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9158" y="3100864"/>
              <a:ext cx="2461260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复杂截图适应性、参数泛化和量化</a:t>
              </a:r>
              <a:r>
                <a:rPr lang="zh-CN" sz="127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评估仍是后续重点。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4762500"/>
            <a:ext cx="12620054" cy="800100"/>
            <a:chOff x="533400" y="4762500"/>
            <a:chExt cx="12620054" cy="800100"/>
          </a:xfrm>
        </p:grpSpPr>
        <p:sp>
          <p:nvSpPr>
            <p:cNvPr id="24" name="Rectangle 24"/>
            <p:cNvSpPr/>
            <p:nvPr/>
          </p:nvSpPr>
          <p:spPr>
            <a:xfrm>
              <a:off x="533400" y="4762500"/>
              <a:ext cx="11125200" cy="800100"/>
            </a:xfrm>
            <a:prstGeom prst="roundRect">
              <a:avLst>
                <a:gd name="adj" fmla="val 7143"/>
              </a:avLst>
            </a:prstGeom>
            <a:solidFill>
              <a:srgbClr val="FFFFFF">
                <a:alpha val="6000"/>
              </a:srgbClr>
            </a:solidFill>
            <a:ln w="9525">
              <a:solidFill>
                <a:srgbClr val="CBD5E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8190" y="5025390"/>
              <a:ext cx="1239526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从课程展示角度看，本项目能够体现图像处理知识在真实业务问题中的应用过程，而不是停留在单一接口调用。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2922" y="6286500"/>
            <a:ext cx="11135678" cy="288131"/>
            <a:chOff x="522922" y="6286500"/>
            <a:chExt cx="11135678" cy="288131"/>
          </a:xfrm>
        </p:grpSpPr>
        <p:sp>
          <p:nvSpPr>
            <p:cNvPr id="27" name="Rectangle 27"/>
            <p:cNvSpPr/>
            <p:nvPr/>
          </p:nvSpPr>
          <p:spPr>
            <a:xfrm>
              <a:off x="533400" y="62865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2922" y="6406991"/>
              <a:ext cx="19626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BD5E1"/>
                  </a:solidFill>
                  <a:latin typeface="Consolas"/>
                  <a:ea typeface="Microsoft YaHei"/>
                  <a:cs typeface="Consolas"/>
                </a:rPr>
                <a:t>Source: report_draft_revised.docx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2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2026-06-11T19:09:01Z</dcterms:created>
  <dcterms:modified xsi:type="dcterms:W3CDTF">2026-06-11T19:09:01Z</dcterms:modified>
  <cp:category/>
  <cp:contentStatus/>
</cp:coreProperties>
</file>